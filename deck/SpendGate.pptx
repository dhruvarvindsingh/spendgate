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3A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E7E9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SpendGate</a:t>
            </a:r>
            <a:endParaRPr lang="en-US" sz="62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949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spending authority for AI agents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949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Razorpay and UPI Circle rails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008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3A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proposes.  It decides, pays, and proves.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50292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7E9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187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5440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40280" y="50292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7E9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240280" y="5440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0" y="50292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7E9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840480" y="5440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40680" y="50292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7E9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440680" y="5440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6172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8B9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Razorpay AI Buildathon  ·  Track 01  ·  Agentic Commerce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680960" y="1828800"/>
            <a:ext cx="3886200" cy="3017520"/>
          </a:xfrm>
          <a:prstGeom prst="rect">
            <a:avLst/>
          </a:prstGeom>
          <a:solidFill>
            <a:srgbClr val="171A21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1837944"/>
            <a:ext cx="50292" cy="2999232"/>
          </a:xfrm>
          <a:prstGeom prst="rect">
            <a:avLst/>
          </a:prstGeom>
          <a:solidFill>
            <a:srgbClr val="93A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2194560"/>
            <a:ext cx="822960" cy="822960"/>
          </a:xfrm>
          <a:prstGeom prst="ellipse">
            <a:avLst/>
          </a:prstGeom>
          <a:solidFill>
            <a:srgbClr val="93A3EE">
              <a:alpha val="14000"/>
            </a:srgbClr>
          </a:solidFill>
          <a:ln w="12700">
            <a:solidFill>
              <a:srgbClr val="93A3EE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0690" y="2408530"/>
            <a:ext cx="395021" cy="395021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046720" y="3200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frontier models, eight scenarios,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arms.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046720" y="38404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9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281160" y="3840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79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of 96 passed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046720" y="422452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9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it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281160" y="42245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B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 of 96 passed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0" fill="hold">
                      <p:stCondLst>
                        <p:cond delay="0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38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380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380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380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380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3A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E7E9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give an AI agent your card.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49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everyone builds this the same way — hand the model a payment button, and write the limits into its instructions.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10881360" cy="960120"/>
          </a:xfrm>
          <a:prstGeom prst="rect">
            <a:avLst/>
          </a:prstGeom>
          <a:solidFill>
            <a:srgbClr val="171A21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340864"/>
            <a:ext cx="50292" cy="941832"/>
          </a:xfrm>
          <a:prstGeom prst="rect">
            <a:avLst/>
          </a:prstGeom>
          <a:solidFill>
            <a:srgbClr val="D7A2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2523744"/>
            <a:ext cx="566928" cy="566928"/>
          </a:xfrm>
          <a:prstGeom prst="ellipse">
            <a:avLst/>
          </a:prstGeom>
          <a:solidFill>
            <a:srgbClr val="D7A24B">
              <a:alpha val="14000"/>
            </a:srgbClr>
          </a:solidFill>
          <a:ln w="12700">
            <a:solidFill>
              <a:srgbClr val="D7A24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089" y="2671145"/>
            <a:ext cx="272125" cy="2721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2487168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talk it out of it.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691640" y="283464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9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limit is a sentence, and reading sentences is what it does.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3602736"/>
            <a:ext cx="10881360" cy="960120"/>
          </a:xfrm>
          <a:prstGeom prst="rect">
            <a:avLst/>
          </a:prstGeom>
          <a:solidFill>
            <a:srgbClr val="171A21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3611880"/>
            <a:ext cx="50292" cy="941832"/>
          </a:xfrm>
          <a:prstGeom prst="rect">
            <a:avLst/>
          </a:prstGeom>
          <a:solidFill>
            <a:srgbClr val="D7A2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32688" y="3794760"/>
            <a:ext cx="566928" cy="566928"/>
          </a:xfrm>
          <a:prstGeom prst="ellipse">
            <a:avLst/>
          </a:prstGeom>
          <a:solidFill>
            <a:srgbClr val="D7A24B">
              <a:alpha val="14000"/>
            </a:srgbClr>
          </a:solidFill>
          <a:ln w="12700">
            <a:solidFill>
              <a:srgbClr val="D7A24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89" y="3942161"/>
            <a:ext cx="272125" cy="27212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91640" y="3758184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remember.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1691640" y="4105656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9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conversation starts fresh. It has no month.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40080" y="4873752"/>
            <a:ext cx="10881360" cy="960120"/>
          </a:xfrm>
          <a:prstGeom prst="rect">
            <a:avLst/>
          </a:prstGeom>
          <a:solidFill>
            <a:srgbClr val="171A21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0080" y="4882896"/>
            <a:ext cx="50292" cy="941832"/>
          </a:xfrm>
          <a:prstGeom prst="rect">
            <a:avLst/>
          </a:prstGeom>
          <a:solidFill>
            <a:srgbClr val="E279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32688" y="5065776"/>
            <a:ext cx="566928" cy="566928"/>
          </a:xfrm>
          <a:prstGeom prst="ellipse">
            <a:avLst/>
          </a:prstGeom>
          <a:solidFill>
            <a:srgbClr val="E2796F">
              <a:alpha val="14000"/>
            </a:srgbClr>
          </a:solidFill>
          <a:ln w="12700">
            <a:solidFill>
              <a:srgbClr val="E2796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89" y="5213177"/>
            <a:ext cx="272125" cy="27212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91640" y="502920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reports its own numbers.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1691640" y="5376672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9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witness is the suspect.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0" fill="hold">
                      <p:stCondLst>
                        <p:cond delay="0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38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380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380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380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380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3A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E7E9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₹4,000 purchases. Not one breaks the cap.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9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₹4,000 headphones, three times inside an hour.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057400" cy="1234440"/>
          </a:xfrm>
          <a:prstGeom prst="rect">
            <a:avLst/>
          </a:prstGeom>
          <a:solidFill>
            <a:srgbClr val="171A21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157984"/>
            <a:ext cx="50292" cy="1216152"/>
          </a:xfrm>
          <a:prstGeom prst="rect">
            <a:avLst/>
          </a:prstGeom>
          <a:solidFill>
            <a:srgbClr val="5FBF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317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E9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₹4,000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143000" y="2880360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5FBF8C">
              <a:alpha val="14000"/>
            </a:srgbClr>
          </a:solidFill>
          <a:ln w="12700">
            <a:solidFill>
              <a:srgbClr val="5FBF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88036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B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71800" y="2148840"/>
            <a:ext cx="2057400" cy="1234440"/>
          </a:xfrm>
          <a:prstGeom prst="rect">
            <a:avLst/>
          </a:prstGeom>
          <a:solidFill>
            <a:srgbClr val="171A21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71800" y="2157984"/>
            <a:ext cx="50292" cy="1216152"/>
          </a:xfrm>
          <a:prstGeom prst="rect">
            <a:avLst/>
          </a:prstGeom>
          <a:solidFill>
            <a:srgbClr val="5FBF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71800" y="23317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E9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₹4,000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474720" y="2880360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5FBF8C">
              <a:alpha val="14000"/>
            </a:srgbClr>
          </a:solidFill>
          <a:ln w="12700">
            <a:solidFill>
              <a:srgbClr val="5FBF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288036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B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03520" y="2148840"/>
            <a:ext cx="2057400" cy="1234440"/>
          </a:xfrm>
          <a:prstGeom prst="rect">
            <a:avLst/>
          </a:prstGeom>
          <a:solidFill>
            <a:srgbClr val="171A21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0" y="2157984"/>
            <a:ext cx="50292" cy="1216152"/>
          </a:xfrm>
          <a:prstGeom prst="rect">
            <a:avLst/>
          </a:prstGeom>
          <a:solidFill>
            <a:srgbClr val="5FBF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23317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E9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₹4,000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806440" y="2880360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5FBF8C">
              <a:alpha val="14000"/>
            </a:srgbClr>
          </a:solidFill>
          <a:ln w="12700">
            <a:solidFill>
              <a:srgbClr val="5FBF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288036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B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635240" y="2148840"/>
            <a:ext cx="3886200" cy="1234440"/>
          </a:xfrm>
          <a:prstGeom prst="rect">
            <a:avLst/>
          </a:prstGeom>
          <a:solidFill>
            <a:srgbClr val="171A21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35240" y="2157984"/>
            <a:ext cx="50292" cy="1216152"/>
          </a:xfrm>
          <a:prstGeom prst="rect">
            <a:avLst/>
          </a:prstGeom>
          <a:solidFill>
            <a:srgbClr val="E279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01000" y="22860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79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₹12,000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8001000" y="28163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9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spent. No rule was broken.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114800"/>
            <a:ext cx="10881360" cy="1417320"/>
          </a:xfrm>
          <a:prstGeom prst="rect">
            <a:avLst/>
          </a:prstGeom>
          <a:solidFill>
            <a:srgbClr val="171A21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123944"/>
            <a:ext cx="50292" cy="1399032"/>
          </a:xfrm>
          <a:prstGeom prst="rect">
            <a:avLst/>
          </a:prstGeom>
          <a:solidFill>
            <a:srgbClr val="93A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0120" y="4526280"/>
            <a:ext cx="603504" cy="603504"/>
          </a:xfrm>
          <a:prstGeom prst="ellipse">
            <a:avLst/>
          </a:prstGeom>
          <a:solidFill>
            <a:srgbClr val="93A3EE">
              <a:alpha val="14000"/>
            </a:srgbClr>
          </a:solidFill>
          <a:ln w="12700">
            <a:solidFill>
              <a:srgbClr val="93A3EE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031" y="4683191"/>
            <a:ext cx="289682" cy="289682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783080" y="4370832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3A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Nothing was keeping score.</a:t>
            </a:r>
            <a:endParaRPr lang="en-US" sz="2400" dirty="0"/>
          </a:p>
        </p:txBody>
      </p:sp>
      <p:sp>
        <p:nvSpPr>
          <p:cNvPr id="29" name="Text 26"/>
          <p:cNvSpPr/>
          <p:nvPr/>
        </p:nvSpPr>
        <p:spPr>
          <a:xfrm>
            <a:off x="1783080" y="484632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9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purchase was individually legal. There is no rule against the pattern, because no one is adding them up.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0" fill="hold">
                      <p:stCondLst>
                        <p:cond delay="0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38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380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380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380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380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3A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WHERE IT FITS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E7E9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standards cover agent payments. One layer has no owner.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10881360" cy="786384"/>
          </a:xfrm>
          <a:prstGeom prst="rect">
            <a:avLst/>
          </a:prstGeom>
          <a:solidFill>
            <a:srgbClr val="171A21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28216"/>
            <a:ext cx="50292" cy="768096"/>
          </a:xfrm>
          <a:prstGeom prst="rect">
            <a:avLst/>
          </a:prstGeom>
          <a:solidFill>
            <a:srgbClr val="2A2F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checkout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215798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9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 the cart, at what price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235440" y="19476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949B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ACP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816352"/>
            <a:ext cx="10881360" cy="786384"/>
          </a:xfrm>
          <a:prstGeom prst="rect">
            <a:avLst/>
          </a:prstGeom>
          <a:solidFill>
            <a:srgbClr val="171A21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825496"/>
            <a:ext cx="50292" cy="768096"/>
          </a:xfrm>
          <a:prstGeom prst="rect">
            <a:avLst/>
          </a:prstGeom>
          <a:solidFill>
            <a:srgbClr val="2A2F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9260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authorisation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05840" y="325526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9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a human allow this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235440" y="304495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949B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AP2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913632"/>
            <a:ext cx="10881360" cy="786384"/>
          </a:xfrm>
          <a:prstGeom prst="rect">
            <a:avLst/>
          </a:prstGeom>
          <a:solidFill>
            <a:srgbClr val="171A21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922776"/>
            <a:ext cx="50292" cy="768096"/>
          </a:xfrm>
          <a:prstGeom prst="rect">
            <a:avLst/>
          </a:prstGeom>
          <a:solidFill>
            <a:srgbClr val="E279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02336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score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05840" y="435254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9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STILL within budget, right now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235440" y="414223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279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nobody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5010912"/>
            <a:ext cx="10881360" cy="786384"/>
          </a:xfrm>
          <a:prstGeom prst="rect">
            <a:avLst/>
          </a:prstGeom>
          <a:solidFill>
            <a:srgbClr val="171A21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5020056"/>
            <a:ext cx="50292" cy="768096"/>
          </a:xfrm>
          <a:prstGeom prst="rect">
            <a:avLst/>
          </a:prstGeom>
          <a:solidFill>
            <a:srgbClr val="2A2F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512064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the money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005840" y="544982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9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payment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235440" y="523951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949B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Razorpay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" y="60807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3A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AP2 says the amount spent MUST be added to a running total — it does not say who keeps it.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0" fill="hold">
                      <p:stCondLst>
                        <p:cond delay="0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38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380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380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380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380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3A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E7E9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security is in the shape of the request.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6492240" cy="2377440"/>
          </a:xfrm>
          <a:prstGeom prst="rect">
            <a:avLst/>
          </a:prstGeom>
          <a:solidFill>
            <a:srgbClr val="171A21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55064"/>
            <a:ext cx="50292" cy="2359152"/>
          </a:xfrm>
          <a:prstGeom prst="rect">
            <a:avLst/>
          </a:prstGeom>
          <a:solidFill>
            <a:srgbClr val="93A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5943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E7E9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request_payment(
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93A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mandate_id          = "mnd_01J9F2K7"
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93A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checkout_session_id = "cs_8fK2mNp"
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93A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agent_id            = "agt_shopper_01"
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E7E9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589520" y="1645920"/>
            <a:ext cx="3931920" cy="2377440"/>
          </a:xfrm>
          <a:prstGeom prst="rect">
            <a:avLst/>
          </a:prstGeom>
          <a:solidFill>
            <a:srgbClr val="171A21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0" y="1655064"/>
            <a:ext cx="50292" cy="2359152"/>
          </a:xfrm>
          <a:prstGeom prst="rect">
            <a:avLst/>
          </a:prstGeom>
          <a:solidFill>
            <a:srgbClr val="E279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0" y="1874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deliberately absent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423160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321040" y="23774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trike="sngStrike" dirty="0">
                <a:solidFill>
                  <a:srgbClr val="949B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</a:t>
            </a:r>
            <a:endParaRPr lang="en-US" sz="15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2880360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321040" y="28346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trike="sngStrike" dirty="0">
                <a:solidFill>
                  <a:srgbClr val="949B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</a:t>
            </a:r>
            <a:endParaRPr lang="en-US" sz="15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3337560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21040" y="32918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trike="sngStrike" dirty="0">
                <a:solidFill>
                  <a:srgbClr val="949B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merchant</a:t>
            </a:r>
            <a:endParaRPr lang="en-US" sz="15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3794760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321040" y="37490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trike="sngStrike" dirty="0">
                <a:solidFill>
                  <a:srgbClr val="949B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currency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640080" y="4572000"/>
            <a:ext cx="10881360" cy="1234440"/>
          </a:xfrm>
          <a:prstGeom prst="rect">
            <a:avLst/>
          </a:prstGeom>
          <a:solidFill>
            <a:srgbClr val="171A21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40080" y="4581144"/>
            <a:ext cx="50292" cy="1216152"/>
          </a:xfrm>
          <a:prstGeom prst="rect">
            <a:avLst/>
          </a:prstGeom>
          <a:solidFill>
            <a:srgbClr val="93A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960120" y="4892040"/>
            <a:ext cx="603504" cy="603504"/>
          </a:xfrm>
          <a:prstGeom prst="ellipse">
            <a:avLst/>
          </a:prstGeom>
          <a:solidFill>
            <a:srgbClr val="93A3EE">
              <a:alpha val="14000"/>
            </a:srgbClr>
          </a:solidFill>
          <a:ln w="12700">
            <a:solidFill>
              <a:srgbClr val="93A3EE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7031" y="5048951"/>
            <a:ext cx="289682" cy="28968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783080" y="4736592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7E9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 is nowhere to put a lie.</a:t>
            </a:r>
            <a:endParaRPr lang="en-US" sz="2400" dirty="0"/>
          </a:p>
        </p:txBody>
      </p:sp>
      <p:sp>
        <p:nvSpPr>
          <p:cNvPr id="23" name="Text 16"/>
          <p:cNvSpPr/>
          <p:nvPr/>
        </p:nvSpPr>
        <p:spPr>
          <a:xfrm>
            <a:off x="1783080" y="5193792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9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completely compromised agent still sends exactly this. Its beliefs never reach the decision.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0" fill="hold">
                      <p:stCondLst>
                        <p:cond delay="0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38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380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380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380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380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3A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E7E9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where does the price come from?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926080" cy="1371600"/>
          </a:xfrm>
          <a:prstGeom prst="rect">
            <a:avLst/>
          </a:prstGeom>
          <a:solidFill>
            <a:srgbClr val="171A21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29384"/>
            <a:ext cx="50292" cy="1353312"/>
          </a:xfrm>
          <a:prstGeom prst="rect">
            <a:avLst/>
          </a:prstGeom>
          <a:solidFill>
            <a:srgbClr val="D7A2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240280"/>
            <a:ext cx="603504" cy="603504"/>
          </a:xfrm>
          <a:prstGeom prst="ellipse">
            <a:avLst/>
          </a:prstGeom>
          <a:solidFill>
            <a:srgbClr val="D7A24B">
              <a:alpha val="14000"/>
            </a:srgbClr>
          </a:solidFill>
          <a:ln w="12700">
            <a:solidFill>
              <a:srgbClr val="D7A24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031" y="2397191"/>
            <a:ext cx="289682" cy="2896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1488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691640" y="24871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9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17720" y="1920240"/>
            <a:ext cx="2926080" cy="1371600"/>
          </a:xfrm>
          <a:prstGeom prst="rect">
            <a:avLst/>
          </a:prstGeom>
          <a:solidFill>
            <a:srgbClr val="171A21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17720" y="1929384"/>
            <a:ext cx="50292" cy="1353312"/>
          </a:xfrm>
          <a:prstGeom prst="rect">
            <a:avLst/>
          </a:prstGeom>
          <a:solidFill>
            <a:srgbClr val="93A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937760" y="2240280"/>
            <a:ext cx="603504" cy="603504"/>
          </a:xfrm>
          <a:prstGeom prst="ellipse">
            <a:avLst/>
          </a:prstGeom>
          <a:solidFill>
            <a:srgbClr val="93A3EE">
              <a:alpha val="14000"/>
            </a:srgbClr>
          </a:solidFill>
          <a:ln w="12700">
            <a:solidFill>
              <a:srgbClr val="93A3EE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4671" y="2397191"/>
            <a:ext cx="289682" cy="28968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21488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SpendGate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5669280" y="24871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9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code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595360" y="1920240"/>
            <a:ext cx="2926080" cy="1371600"/>
          </a:xfrm>
          <a:prstGeom prst="rect">
            <a:avLst/>
          </a:prstGeom>
          <a:solidFill>
            <a:srgbClr val="171A21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595360" y="1929384"/>
            <a:ext cx="50292" cy="1353312"/>
          </a:xfrm>
          <a:prstGeom prst="rect">
            <a:avLst/>
          </a:prstGeom>
          <a:solidFill>
            <a:srgbClr val="5FBF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915400" y="2240280"/>
            <a:ext cx="603504" cy="603504"/>
          </a:xfrm>
          <a:prstGeom prst="ellipse">
            <a:avLst/>
          </a:prstGeom>
          <a:solidFill>
            <a:srgbClr val="5FBF8C">
              <a:alpha val="14000"/>
            </a:srgbClr>
          </a:solidFill>
          <a:ln w="12700">
            <a:solidFill>
              <a:srgbClr val="5FBF8C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2311" y="2397191"/>
            <a:ext cx="289682" cy="28968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646920" y="21488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9646920" y="24871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9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the price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3794760" y="2606040"/>
            <a:ext cx="594360" cy="0"/>
          </a:xfrm>
          <a:prstGeom prst="line">
            <a:avLst/>
          </a:prstGeom>
          <a:noFill/>
          <a:ln w="25400">
            <a:solidFill>
              <a:srgbClr val="93A3EE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7772400" y="2606040"/>
            <a:ext cx="594360" cy="0"/>
          </a:xfrm>
          <a:prstGeom prst="line">
            <a:avLst/>
          </a:prstGeom>
          <a:noFill/>
          <a:ln w="25400">
            <a:solidFill>
              <a:srgbClr val="93A3EE"/>
            </a:solidFill>
            <a:prstDash val="solid"/>
            <a:tailEnd type="triangle"/>
          </a:ln>
        </p:spPr>
      </p:sp>
      <p:sp>
        <p:nvSpPr>
          <p:cNvPr id="24" name="Text 19"/>
          <p:cNvSpPr/>
          <p:nvPr/>
        </p:nvSpPr>
        <p:spPr>
          <a:xfrm>
            <a:off x="3657600" y="21762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9B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ticket no.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7635240" y="21762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9B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price?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080760" y="3794760"/>
            <a:ext cx="3977640" cy="0"/>
          </a:xfrm>
          <a:prstGeom prst="line">
            <a:avLst/>
          </a:prstGeom>
          <a:noFill/>
          <a:ln w="25400">
            <a:solidFill>
              <a:srgbClr val="5FBF8C"/>
            </a:solidFill>
            <a:prstDash val="solid"/>
            <a:headEnd type="triangle"/>
          </a:ln>
        </p:spPr>
      </p:sp>
      <p:sp>
        <p:nvSpPr>
          <p:cNvPr id="27" name="Text 22"/>
          <p:cNvSpPr/>
          <p:nvPr/>
        </p:nvSpPr>
        <p:spPr>
          <a:xfrm>
            <a:off x="6949440" y="340156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FB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₹1,200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5120640" y="4069080"/>
            <a:ext cx="5897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9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shop, on a connection the agent is not part of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640080" y="4800600"/>
            <a:ext cx="10908792" cy="868680"/>
          </a:xfrm>
          <a:prstGeom prst="rect">
            <a:avLst/>
          </a:prstGeom>
          <a:solidFill>
            <a:srgbClr val="171A21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40080" y="4809744"/>
            <a:ext cx="50292" cy="850392"/>
          </a:xfrm>
          <a:prstGeom prst="rect">
            <a:avLst/>
          </a:prstGeom>
          <a:solidFill>
            <a:srgbClr val="E279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960120" y="4937760"/>
            <a:ext cx="603504" cy="603504"/>
          </a:xfrm>
          <a:prstGeom prst="ellipse">
            <a:avLst/>
          </a:prstGeom>
          <a:solidFill>
            <a:srgbClr val="E2796F">
              <a:alpha val="14000"/>
            </a:srgbClr>
          </a:solidFill>
          <a:ln w="12700">
            <a:solidFill>
              <a:srgbClr val="E2796F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031" y="5094671"/>
            <a:ext cx="289682" cy="28968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783080" y="495604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hands over a ticket number, not a price. We ask the shop ourselves.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0" fill="hold">
                      <p:stCondLst>
                        <p:cond delay="0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38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380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380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380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380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3A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E7E9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plain code decides. 38 rules, in order.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585216"/>
          </a:xfrm>
          <a:prstGeom prst="rect">
            <a:avLst/>
          </a:prstGeom>
          <a:solidFill>
            <a:srgbClr val="171A21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55064"/>
            <a:ext cx="50292" cy="566928"/>
          </a:xfrm>
          <a:prstGeom prst="rect">
            <a:avLst/>
          </a:prstGeom>
          <a:solidFill>
            <a:srgbClr val="E279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7393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764792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permission slip real?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89520" y="18013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9B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R01–R08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966960" y="1792224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E2796F">
              <a:alpha val="14000"/>
            </a:srgbClr>
          </a:solidFill>
          <a:ln w="12700">
            <a:solidFill>
              <a:srgbClr val="E279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66960" y="179222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79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REFUSE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514600"/>
            <a:ext cx="10881360" cy="585216"/>
          </a:xfrm>
          <a:prstGeom prst="rect">
            <a:avLst/>
          </a:prstGeom>
          <a:solidFill>
            <a:srgbClr val="171A21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523744"/>
            <a:ext cx="50292" cy="566928"/>
          </a:xfrm>
          <a:prstGeom prst="rect">
            <a:avLst/>
          </a:prstGeom>
          <a:solidFill>
            <a:srgbClr val="E279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64261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2633472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basket real, and unpaid?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589520" y="26700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9B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R09–R16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966960" y="2660904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E2796F">
              <a:alpha val="14000"/>
            </a:srgbClr>
          </a:solidFill>
          <a:ln w="12700">
            <a:solidFill>
              <a:srgbClr val="E279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6960" y="26609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79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REFUSE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383280"/>
            <a:ext cx="10881360" cy="585216"/>
          </a:xfrm>
          <a:prstGeom prst="rect">
            <a:avLst/>
          </a:prstGeom>
          <a:solidFill>
            <a:srgbClr val="171A21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392424"/>
            <a:ext cx="50292" cy="566928"/>
          </a:xfrm>
          <a:prstGeom prst="rect">
            <a:avLst/>
          </a:prstGeom>
          <a:solidFill>
            <a:srgbClr val="E279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351129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17320" y="3502152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inside the hard limits?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589520" y="35387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9B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R17–R24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966960" y="3529584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E2796F">
              <a:alpha val="14000"/>
            </a:srgbClr>
          </a:solidFill>
          <a:ln w="12700">
            <a:solidFill>
              <a:srgbClr val="E2796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66960" y="352958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79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REFUSE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4251960"/>
            <a:ext cx="10881360" cy="585216"/>
          </a:xfrm>
          <a:prstGeom prst="rect">
            <a:avLst/>
          </a:prstGeom>
          <a:solidFill>
            <a:srgbClr val="171A21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4261104"/>
            <a:ext cx="50292" cy="566928"/>
          </a:xfrm>
          <a:prstGeom prst="rect">
            <a:avLst/>
          </a:prstGeom>
          <a:solidFill>
            <a:srgbClr val="E279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" y="437997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17320" y="4370832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a duplicate or a race?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589520" y="44074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9B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R25–R29, R38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966960" y="4398264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E2796F">
              <a:alpha val="14000"/>
            </a:srgbClr>
          </a:solidFill>
          <a:ln w="12700">
            <a:solidFill>
              <a:srgbClr val="E2796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66960" y="439826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79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REFUSE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" y="5120640"/>
            <a:ext cx="10881360" cy="585216"/>
          </a:xfrm>
          <a:prstGeom prst="rect">
            <a:avLst/>
          </a:prstGeom>
          <a:solidFill>
            <a:srgbClr val="171A21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" y="5129784"/>
            <a:ext cx="50292" cy="566928"/>
          </a:xfrm>
          <a:prstGeom prst="rect">
            <a:avLst/>
          </a:prstGeom>
          <a:solidFill>
            <a:srgbClr val="D7A2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6112" y="524865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417320" y="5239512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something you'd want to see?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589520" y="52760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9B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R30–R37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966960" y="5266944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D7A24B">
              <a:alpha val="14000"/>
            </a:srgbClr>
          </a:solidFill>
          <a:ln w="12700">
            <a:solidFill>
              <a:srgbClr val="D7A24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966960" y="526694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7A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 YOU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3A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objection wins. One reason, never a list.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0" fill="hold">
                      <p:stCondLst>
                        <p:cond delay="0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38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380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380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380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380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3A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THE EDGES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E7E9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systems have two outcomes. You need three.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206240" y="1600200"/>
            <a:ext cx="3749040" cy="868680"/>
          </a:xfrm>
          <a:prstGeom prst="rect">
            <a:avLst/>
          </a:prstGeom>
          <a:solidFill>
            <a:srgbClr val="171A21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06240" y="1609344"/>
            <a:ext cx="50292" cy="850392"/>
          </a:xfrm>
          <a:prstGeom prst="rect">
            <a:avLst/>
          </a:prstGeom>
          <a:solidFill>
            <a:srgbClr val="93A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0" y="17190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3A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₹1,200 set aside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206240" y="2057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9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— not yet spent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80760" y="2514600"/>
            <a:ext cx="-3977640" cy="685800"/>
          </a:xfrm>
          <a:prstGeom prst="line">
            <a:avLst/>
          </a:prstGeom>
          <a:noFill/>
          <a:ln w="19050">
            <a:solidFill>
              <a:srgbClr val="5FBF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246120"/>
            <a:ext cx="2926080" cy="1280160"/>
          </a:xfrm>
          <a:prstGeom prst="rect">
            <a:avLst/>
          </a:prstGeom>
          <a:solidFill>
            <a:srgbClr val="171A21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255264"/>
            <a:ext cx="50292" cy="1261872"/>
          </a:xfrm>
          <a:prstGeom prst="rect">
            <a:avLst/>
          </a:prstGeom>
          <a:solidFill>
            <a:srgbClr val="5FBF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19656" y="3401568"/>
            <a:ext cx="566928" cy="566928"/>
          </a:xfrm>
          <a:prstGeom prst="ellipse">
            <a:avLst/>
          </a:prstGeom>
          <a:solidFill>
            <a:srgbClr val="5FBF8C">
              <a:alpha val="14000"/>
            </a:srgbClr>
          </a:solidFill>
          <a:ln w="12700">
            <a:solidFill>
              <a:srgbClr val="5FBF8C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7057" y="3548969"/>
            <a:ext cx="272125" cy="27212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" y="39502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FB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40080" y="42428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B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held → spent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080760" y="2514600"/>
            <a:ext cx="0" cy="685800"/>
          </a:xfrm>
          <a:prstGeom prst="line">
            <a:avLst/>
          </a:prstGeom>
          <a:noFill/>
          <a:ln w="19050">
            <a:solidFill>
              <a:srgbClr val="E2796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17720" y="3246120"/>
            <a:ext cx="2926080" cy="1280160"/>
          </a:xfrm>
          <a:prstGeom prst="rect">
            <a:avLst/>
          </a:prstGeom>
          <a:solidFill>
            <a:srgbClr val="171A21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17720" y="3255264"/>
            <a:ext cx="50292" cy="1261872"/>
          </a:xfrm>
          <a:prstGeom prst="rect">
            <a:avLst/>
          </a:prstGeom>
          <a:solidFill>
            <a:srgbClr val="E279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797296" y="3401568"/>
            <a:ext cx="566928" cy="566928"/>
          </a:xfrm>
          <a:prstGeom prst="ellipse">
            <a:avLst/>
          </a:prstGeom>
          <a:solidFill>
            <a:srgbClr val="E2796F">
              <a:alpha val="14000"/>
            </a:srgbClr>
          </a:solidFill>
          <a:ln w="12700">
            <a:solidFill>
              <a:srgbClr val="E2796F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4697" y="3548969"/>
            <a:ext cx="272125" cy="272125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617720" y="39502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4617720" y="42428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279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held → comes back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080760" y="2514600"/>
            <a:ext cx="3977640" cy="685800"/>
          </a:xfrm>
          <a:prstGeom prst="line">
            <a:avLst/>
          </a:prstGeom>
          <a:noFill/>
          <a:ln w="19050">
            <a:solidFill>
              <a:srgbClr val="D7A24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595360" y="3246120"/>
            <a:ext cx="2926080" cy="1280160"/>
          </a:xfrm>
          <a:prstGeom prst="rect">
            <a:avLst/>
          </a:prstGeom>
          <a:solidFill>
            <a:srgbClr val="171A21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595360" y="3255264"/>
            <a:ext cx="50292" cy="1261872"/>
          </a:xfrm>
          <a:prstGeom prst="rect">
            <a:avLst/>
          </a:prstGeom>
          <a:solidFill>
            <a:srgbClr val="D7A2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9774936" y="3401568"/>
            <a:ext cx="566928" cy="566928"/>
          </a:xfrm>
          <a:prstGeom prst="ellipse">
            <a:avLst/>
          </a:prstGeom>
          <a:solidFill>
            <a:srgbClr val="D7A24B">
              <a:alpha val="14000"/>
            </a:srgbClr>
          </a:solidFill>
          <a:ln w="12700">
            <a:solidFill>
              <a:srgbClr val="D7A24B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2337" y="3548969"/>
            <a:ext cx="272125" cy="272125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595360" y="39502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7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know</a:t>
            </a:r>
            <a:endParaRPr lang="en-US" sz="1700" dirty="0"/>
          </a:p>
        </p:txBody>
      </p:sp>
      <p:sp>
        <p:nvSpPr>
          <p:cNvPr id="28" name="Text 23"/>
          <p:cNvSpPr/>
          <p:nvPr/>
        </p:nvSpPr>
        <p:spPr>
          <a:xfrm>
            <a:off x="8595360" y="42428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7A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stays held — neither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640080" y="4892040"/>
            <a:ext cx="10881360" cy="1097280"/>
          </a:xfrm>
          <a:prstGeom prst="rect">
            <a:avLst/>
          </a:prstGeom>
          <a:solidFill>
            <a:srgbClr val="171A21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40080" y="4901184"/>
            <a:ext cx="50292" cy="1078992"/>
          </a:xfrm>
          <a:prstGeom prst="rect">
            <a:avLst/>
          </a:prstGeom>
          <a:solidFill>
            <a:srgbClr val="E279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1005840" y="502920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it too early and the payment lands later — you have paid twice.</a:t>
            </a:r>
            <a:endParaRPr lang="en-US" sz="1500" dirty="0"/>
          </a:p>
        </p:txBody>
      </p:sp>
      <p:sp>
        <p:nvSpPr>
          <p:cNvPr id="32" name="Text 27"/>
          <p:cNvSpPr/>
          <p:nvPr/>
        </p:nvSpPr>
        <p:spPr>
          <a:xfrm>
            <a:off x="1005840" y="539496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it as spent when it never happened — you have invented a charge.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0" fill="hold">
                      <p:stCondLst>
                        <p:cond delay="0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38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380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380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380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380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3A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THE EDGES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E7E9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the one I got wrong.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9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log entry's fingerprint includes the one before it, so an edit breaks the chain.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881360" cy="987552"/>
          </a:xfrm>
          <a:prstGeom prst="rect">
            <a:avLst/>
          </a:prstGeom>
          <a:solidFill>
            <a:srgbClr val="171A21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020824"/>
            <a:ext cx="50292" cy="969264"/>
          </a:xfrm>
          <a:prstGeom prst="rect">
            <a:avLst/>
          </a:prstGeom>
          <a:solidFill>
            <a:srgbClr val="5FBF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2221992"/>
            <a:ext cx="566928" cy="566928"/>
          </a:xfrm>
          <a:prstGeom prst="ellipse">
            <a:avLst/>
          </a:prstGeom>
          <a:solidFill>
            <a:srgbClr val="5FBF8C">
              <a:alpha val="14000"/>
            </a:srgbClr>
          </a:solidFill>
          <a:ln w="12700">
            <a:solidFill>
              <a:srgbClr val="5FBF8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089" y="2369393"/>
            <a:ext cx="272125" cy="2721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2176272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one amount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691640" y="253288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9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entry no longer links — the chain breaks.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418320" y="2340864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5FBF8C">
              <a:alpha val="14000"/>
            </a:srgbClr>
          </a:solidFill>
          <a:ln w="12700">
            <a:solidFill>
              <a:srgbClr val="5FBF8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418320" y="234086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B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CAUGHT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40080" y="3310128"/>
            <a:ext cx="10881360" cy="987552"/>
          </a:xfrm>
          <a:prstGeom prst="rect">
            <a:avLst/>
          </a:prstGeom>
          <a:solidFill>
            <a:srgbClr val="171A21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0080" y="3319272"/>
            <a:ext cx="50292" cy="969264"/>
          </a:xfrm>
          <a:prstGeom prst="rect">
            <a:avLst/>
          </a:prstGeom>
          <a:solidFill>
            <a:srgbClr val="E279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32688" y="3520440"/>
            <a:ext cx="566928" cy="566928"/>
          </a:xfrm>
          <a:prstGeom prst="ellipse">
            <a:avLst/>
          </a:prstGeom>
          <a:solidFill>
            <a:srgbClr val="E2796F">
              <a:alpha val="14000"/>
            </a:srgbClr>
          </a:solidFill>
          <a:ln w="12700">
            <a:solidFill>
              <a:srgbClr val="E2796F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89" y="3667841"/>
            <a:ext cx="272125" cy="27212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691640" y="347472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…then recompute every fingerprint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691640" y="3831336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9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chain is internally consistent again. It verifies clean.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9418320" y="3639312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E2796F">
              <a:alpha val="14000"/>
            </a:srgbClr>
          </a:solidFill>
          <a:ln w="12700">
            <a:solidFill>
              <a:srgbClr val="E2796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418320" y="363931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79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MISSED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40080" y="4608576"/>
            <a:ext cx="10881360" cy="987552"/>
          </a:xfrm>
          <a:prstGeom prst="rect">
            <a:avLst/>
          </a:prstGeom>
          <a:solidFill>
            <a:srgbClr val="171A21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40080" y="4617720"/>
            <a:ext cx="50292" cy="969264"/>
          </a:xfrm>
          <a:prstGeom prst="rect">
            <a:avLst/>
          </a:prstGeom>
          <a:solidFill>
            <a:srgbClr val="5FBF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932688" y="4818888"/>
            <a:ext cx="566928" cy="566928"/>
          </a:xfrm>
          <a:prstGeom prst="ellipse">
            <a:avLst/>
          </a:prstGeom>
          <a:solidFill>
            <a:srgbClr val="5FBF8C">
              <a:alpha val="14000"/>
            </a:srgbClr>
          </a:solidFill>
          <a:ln w="12700">
            <a:solidFill>
              <a:srgbClr val="5FBF8C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89" y="4966289"/>
            <a:ext cx="272125" cy="272125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691640" y="477316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newest fingerprint lives outside the log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1691640" y="5129784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9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rewrite cannot reach it. The anchor mismatches.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9418320" y="4937760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5FBF8C">
              <a:alpha val="14000"/>
            </a:srgbClr>
          </a:solidFill>
          <a:ln w="12700">
            <a:solidFill>
              <a:srgbClr val="5FBF8C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418320" y="49377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B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CAUGHT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3A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by deliberately breaking my own code and noticing that no test complained.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0" fill="hold">
                      <p:stCondLst>
                        <p:cond delay="0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38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380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380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380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380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3A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DOES IT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E7E9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corpus, run through both arms.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9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attacks, same shop, same rails — the only difference is whether the agent holds the payment button, or has to ask.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166360" cy="2423160"/>
          </a:xfrm>
          <a:prstGeom prst="rect">
            <a:avLst/>
          </a:prstGeom>
          <a:solidFill>
            <a:srgbClr val="171A21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066544"/>
            <a:ext cx="50292" cy="2404872"/>
          </a:xfrm>
          <a:prstGeom prst="rect">
            <a:avLst/>
          </a:prstGeom>
          <a:solidFill>
            <a:srgbClr val="E279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2402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usual way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25786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9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holds the payment button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9718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279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₹20,63,000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1005840" y="38862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9B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of 145 attacks contained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41605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plus 50 ordinary purchases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55080" y="2057400"/>
            <a:ext cx="5166360" cy="2423160"/>
          </a:xfrm>
          <a:prstGeom prst="rect">
            <a:avLst/>
          </a:prstGeom>
          <a:solidFill>
            <a:srgbClr val="171A21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2066544"/>
            <a:ext cx="50292" cy="2404872"/>
          </a:xfrm>
          <a:prstGeom prst="rect">
            <a:avLst/>
          </a:prstGeom>
          <a:solidFill>
            <a:srgbClr val="5FBF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22402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SpendGate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720840" y="25786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9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has to ask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20840" y="29718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FB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₹0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720840" y="38862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9B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160 of 160 attacks contained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20840" y="41605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plus 50 ordinary purchases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617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arms face different counts: 15 cases test a permission being revoked or expiring, which an agent with no permission model cannot be given. Counting those as wins for the naive arm was a bug I found and fixed.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120640"/>
            <a:ext cx="10881360" cy="1051560"/>
          </a:xfrm>
          <a:prstGeom prst="rect">
            <a:avLst/>
          </a:prstGeom>
          <a:solidFill>
            <a:srgbClr val="171A21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5129784"/>
            <a:ext cx="50292" cy="1033272"/>
          </a:xfrm>
          <a:prstGeom prst="rect">
            <a:avLst/>
          </a:prstGeom>
          <a:solidFill>
            <a:srgbClr val="93A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" y="5349240"/>
            <a:ext cx="603504" cy="603504"/>
          </a:xfrm>
          <a:prstGeom prst="ellipse">
            <a:avLst/>
          </a:prstGeom>
          <a:solidFill>
            <a:srgbClr val="93A3EE">
              <a:alpha val="14000"/>
            </a:srgbClr>
          </a:solidFill>
          <a:ln w="12700">
            <a:solidFill>
              <a:srgbClr val="93A3EE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031" y="5506151"/>
            <a:ext cx="289682" cy="28968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783080" y="5266944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50 of 50 ordinary purchases still went through — in both arms.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783080" y="5632704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9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that refuses everything scores perfectly on containment and is useless.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0" fill="hold">
                      <p:stCondLst>
                        <p:cond delay="0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38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380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380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380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380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3A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DOES IT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E7E9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models. Eight scenarios. Both arms.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9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ran all eight scenarios twice, once without SpendGate and once with it.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88136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783080"/>
                <a:gridCol w="1691640"/>
                <a:gridCol w="2057400"/>
                <a:gridCol w="1051560"/>
                <a:gridCol w="14630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949BA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Model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949BA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Passed without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949BA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Passed with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949BA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Leaked without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949BA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Lied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949BA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Cost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E9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GLM-4.7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7E9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6/16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FBF8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16/16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2796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₹1,17,300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7E9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7E9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$0.078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E9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Kimi K2.5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7E9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6/16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FBF8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16/16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2796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₹1,17,300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7E9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7E9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$0.071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E9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MiniMax M2.5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7E9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6/16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FBF8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16/16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2796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₹1,17,300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7E9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7E9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$0.173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E9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3 Flash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7E9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6/16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FBF8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16/16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2796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₹39,700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7E9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7E9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$0.045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E9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Sonnet 4.5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7E9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8/16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FBF8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16/16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2796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₹37,300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7E9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7E9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$0.714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E9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7E9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8/16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FBF8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16/16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2796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₹37,300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7E9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7E9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$0.875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7E9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2796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40/96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FBF8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96/96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2796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₹4,66,200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7E9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7E9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$1.96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>
                    <a:lnL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171A21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5084064"/>
            <a:ext cx="50292" cy="1124712"/>
          </a:xfrm>
          <a:prstGeom prst="rect">
            <a:avLst/>
          </a:prstGeom>
          <a:solidFill>
            <a:srgbClr val="E279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60120" y="5349240"/>
            <a:ext cx="603504" cy="603504"/>
          </a:xfrm>
          <a:prstGeom prst="ellipse">
            <a:avLst/>
          </a:prstGeom>
          <a:solidFill>
            <a:srgbClr val="E2796F">
              <a:alpha val="14000"/>
            </a:srgbClr>
          </a:solidFill>
          <a:ln w="12700">
            <a:solidFill>
              <a:srgbClr val="E2796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031" y="5506151"/>
            <a:ext cx="289682" cy="28968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83080" y="5248656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scenarios were failed by every single model.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783080" y="5632704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9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windowed limit · the budget across fresh contexts · a merchant that reprices after quoting · permission withdrawn while the agent was away.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0" fill="hold">
                      <p:stCondLst>
                        <p:cond delay="0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38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380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380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380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3A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DOES IT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E7E9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of the six lied about the price.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166360" cy="2834640"/>
          </a:xfrm>
          <a:prstGeom prst="rect">
            <a:avLst/>
          </a:prstGeom>
          <a:solidFill>
            <a:srgbClr val="171A21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9344"/>
            <a:ext cx="50292" cy="2816352"/>
          </a:xfrm>
          <a:prstGeom prst="rect">
            <a:avLst/>
          </a:prstGeom>
          <a:solidFill>
            <a:srgbClr val="93A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828800"/>
            <a:ext cx="566928" cy="566928"/>
          </a:xfrm>
          <a:prstGeom prst="ellipse">
            <a:avLst/>
          </a:prstGeom>
          <a:solidFill>
            <a:srgbClr val="93A3EE">
              <a:alpha val="14000"/>
            </a:srgbClr>
          </a:solidFill>
          <a:ln w="12700">
            <a:solidFill>
              <a:srgbClr val="93A3E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241" y="197620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874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Lied about the price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05840" y="25146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9B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GLM-4.7 · Kimi K2.5 · MiniMax M2.5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005840" y="285292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poisoned listing and reported ₹5 for a ₹40,000 television.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005840" y="36118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79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₹1,173 leaked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6355080" y="1600200"/>
            <a:ext cx="5166360" cy="2834640"/>
          </a:xfrm>
          <a:prstGeom prst="rect">
            <a:avLst/>
          </a:prstGeom>
          <a:solidFill>
            <a:srgbClr val="171A21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609344"/>
            <a:ext cx="50292" cy="2816352"/>
          </a:xfrm>
          <a:prstGeom prst="rect">
            <a:avLst/>
          </a:prstGeom>
          <a:solidFill>
            <a:srgbClr val="93A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720840" y="1828800"/>
            <a:ext cx="566928" cy="566928"/>
          </a:xfrm>
          <a:prstGeom prst="ellipse">
            <a:avLst/>
          </a:prstGeom>
          <a:solidFill>
            <a:srgbClr val="93A3EE">
              <a:alpha val="14000"/>
            </a:srgbClr>
          </a:solidFill>
          <a:ln w="12700">
            <a:solidFill>
              <a:srgbClr val="93A3E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8241" y="1976201"/>
            <a:ext cx="272125" cy="27212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406640" y="1874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Refused, unprompted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6720840" y="25146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9B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GPT-5 · Claude Sonnet 4.5 · Gemini 3 Flash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6720840" y="285292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same listing, ignored it, and declined on the real price.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6720840" y="36118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79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₹373 leaked</a:t>
            </a:r>
            <a:endParaRPr lang="en-US" sz="2600" dirty="0"/>
          </a:p>
        </p:txBody>
      </p:sp>
      <p:sp>
        <p:nvSpPr>
          <p:cNvPr id="20" name="Shape 16"/>
          <p:cNvSpPr/>
          <p:nvPr/>
        </p:nvSpPr>
        <p:spPr>
          <a:xfrm>
            <a:off x="640080" y="4754880"/>
            <a:ext cx="10881360" cy="1371600"/>
          </a:xfrm>
          <a:prstGeom prst="rect">
            <a:avLst/>
          </a:prstGeom>
          <a:solidFill>
            <a:srgbClr val="171A21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40080" y="4764024"/>
            <a:ext cx="50292" cy="1353312"/>
          </a:xfrm>
          <a:prstGeom prst="rect">
            <a:avLst/>
          </a:prstGeom>
          <a:solidFill>
            <a:srgbClr val="93A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005840" y="491947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3A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argument is not that agents lie.</a:t>
            </a:r>
            <a:endParaRPr lang="en-US" sz="2200" dirty="0"/>
          </a:p>
        </p:txBody>
      </p:sp>
      <p:sp>
        <p:nvSpPr>
          <p:cNvPr id="23" name="Text 19"/>
          <p:cNvSpPr/>
          <p:nvPr/>
        </p:nvSpPr>
        <p:spPr>
          <a:xfrm>
            <a:off x="1005840" y="534924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that a budget is memory — and an agent has none. Both groups failed all four stateless tests, and under SpendGate both leaked ₹0.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0" fill="hold">
                      <p:stCondLst>
                        <p:cond delay="0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38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380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380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380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380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3A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WHAT IT DOES NOT 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E7E9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this breaks.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10881360" cy="822960"/>
          </a:xfrm>
          <a:prstGeom prst="rect">
            <a:avLst/>
          </a:prstGeom>
          <a:solidFill>
            <a:srgbClr val="171A21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36776"/>
            <a:ext cx="50292" cy="804672"/>
          </a:xfrm>
          <a:prstGeom prst="rect">
            <a:avLst/>
          </a:prstGeom>
          <a:solidFill>
            <a:srgbClr val="D7A2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55648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split check is a time window.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9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attacker who waits long enough gets past it.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724912"/>
            <a:ext cx="10881360" cy="822960"/>
          </a:xfrm>
          <a:prstGeom prst="rect">
            <a:avLst/>
          </a:prstGeom>
          <a:solidFill>
            <a:srgbClr val="171A21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734056"/>
            <a:ext cx="50292" cy="804672"/>
          </a:xfrm>
          <a:prstGeom prst="rect">
            <a:avLst/>
          </a:prstGeom>
          <a:solidFill>
            <a:srgbClr val="D7A2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852928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shop declares its own category.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3200400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9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assigns the real MCC — I did not have it.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822192"/>
            <a:ext cx="10881360" cy="822960"/>
          </a:xfrm>
          <a:prstGeom prst="rect">
            <a:avLst/>
          </a:prstGeom>
          <a:solidFill>
            <a:srgbClr val="171A21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831336"/>
            <a:ext cx="50292" cy="804672"/>
          </a:xfrm>
          <a:prstGeom prst="rect">
            <a:avLst/>
          </a:prstGeom>
          <a:solidFill>
            <a:srgbClr val="D7A2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950208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is not verified live.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4297680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9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Orders, refusals and reconciliation are. Completing a payment needs a human.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919472"/>
            <a:ext cx="10881360" cy="822960"/>
          </a:xfrm>
          <a:prstGeom prst="rect">
            <a:avLst/>
          </a:prstGeom>
          <a:solidFill>
            <a:srgbClr val="171A21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928616"/>
            <a:ext cx="50292" cy="804672"/>
          </a:xfrm>
          <a:prstGeom prst="rect">
            <a:avLst/>
          </a:prstGeom>
          <a:solidFill>
            <a:srgbClr val="D7A2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5047488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checks whether a purchase was allowed.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5394960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9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whether it was a good idea. That is a different problem.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3A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because they will be asked — and because a list of none is not credible.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0" fill="hold">
                      <p:stCondLst>
                        <p:cond delay="0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38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380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380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380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3A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7E9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SpendGate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3A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proposes. It decides, pays, and proves.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502920" cy="502920"/>
          </a:xfrm>
          <a:prstGeom prst="ellipse">
            <a:avLst/>
          </a:prstGeom>
          <a:solidFill>
            <a:srgbClr val="5FBF8C">
              <a:alpha val="14000"/>
            </a:srgbClr>
          </a:solidFill>
          <a:ln w="12700">
            <a:solidFill>
              <a:srgbClr val="5FBF8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319399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53312" y="304495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 tests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53312" y="332841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9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38 rules has a test that trips it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3858768"/>
            <a:ext cx="502920" cy="502920"/>
          </a:xfrm>
          <a:prstGeom prst="ellipse">
            <a:avLst/>
          </a:prstGeom>
          <a:solidFill>
            <a:srgbClr val="93A3EE">
              <a:alpha val="14000"/>
            </a:srgbClr>
          </a:solidFill>
          <a:ln w="12700">
            <a:solidFill>
              <a:srgbClr val="93A3E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39" y="3989527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53312" y="38404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of 17 mutations killed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353312" y="412394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9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suite is checked by deliberately breaking the code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4654296"/>
            <a:ext cx="502920" cy="502920"/>
          </a:xfrm>
          <a:prstGeom prst="ellipse">
            <a:avLst/>
          </a:prstGeom>
          <a:solidFill>
            <a:srgbClr val="5FBF8C">
              <a:alpha val="14000"/>
            </a:srgbClr>
          </a:solidFill>
          <a:ln w="12700">
            <a:solidFill>
              <a:srgbClr val="5FBF8C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4785055"/>
            <a:ext cx="241402" cy="24140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53312" y="46360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15/15 against live Razorpay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353312" y="491947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9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mode — orders, refusals, reconciliation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40080" y="5449824"/>
            <a:ext cx="502920" cy="502920"/>
          </a:xfrm>
          <a:prstGeom prst="ellipse">
            <a:avLst/>
          </a:prstGeom>
          <a:solidFill>
            <a:srgbClr val="93A3EE">
              <a:alpha val="14000"/>
            </a:srgbClr>
          </a:solidFill>
          <a:ln w="12700">
            <a:solidFill>
              <a:srgbClr val="93A3EE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" y="5580583"/>
            <a:ext cx="241402" cy="24140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53312" y="543153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bugs written up in BUGS.md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353312" y="57150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9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four claims of mine that were false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7178040" y="3063240"/>
            <a:ext cx="4343400" cy="2514600"/>
          </a:xfrm>
          <a:prstGeom prst="rect">
            <a:avLst/>
          </a:prstGeom>
          <a:solidFill>
            <a:srgbClr val="171A21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178040" y="3072384"/>
            <a:ext cx="50292" cy="2496312"/>
          </a:xfrm>
          <a:prstGeom prst="rect">
            <a:avLst/>
          </a:prstGeom>
          <a:solidFill>
            <a:srgbClr val="93A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498080" y="3291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github.com/DhruvArvindSingh/spendgate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498080" y="374904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49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repository, the 210-case corpus, the six-model results, and every number in this deck.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7498080" y="482803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spc="100" kern="0" dirty="0">
                <a:solidFill>
                  <a:srgbClr val="8B9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Razorpay AI Buildathon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spc="100" kern="0" dirty="0">
                <a:solidFill>
                  <a:srgbClr val="8B9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 01 · Agentic Commerce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0" fill="hold">
                      <p:stCondLst>
                        <p:cond delay="0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38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380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380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380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380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SpendGate</dc:title>
  <dc:subject>PptxGenJS Presentation</dc:subject>
  <dc:creator>Dhruv Arvind Singh</dc:creator>
  <cp:lastModifiedBy>Dhruv Arvind Singh</cp:lastModifiedBy>
  <cp:revision>1</cp:revision>
  <dcterms:created xsi:type="dcterms:W3CDTF">2026-09-04T17:50:39Z</dcterms:created>
  <dcterms:modified xsi:type="dcterms:W3CDTF">2026-09-04T17:50:39Z</dcterms:modified>
</cp:coreProperties>
</file>